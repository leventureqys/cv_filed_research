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DFB6416-92AA-4519-B430-DA23702A3B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这一页建立共同语言。请注意跨次差异不等于随机噪声，时漂也不等于基线漂移。后面的研究和软件架构会按这五类问题分别设计，避免用一个滤波器处理所有现象。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左图强调固定载荷下仍有慢趋势，右图强调稳态局部窗口的帧间震荡。低通只对右边有效；左边需要区分材料蠕变、界面变化、温度和电路预热。汇报时不要承诺滤波能够解决全部时漂。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左侧是串扰机理示意，必须明确它不是当前膜片的实测系数。右侧解释为什么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15%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跨次差异不能靠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解决：它可能来自位置、装夹、材料历史、环境和设备。我们的任务是用实验把这些方差拆开。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这一页用于管理预期。软件能够修复的是可观测、可重复、可验证的误差；对于随机接触、结构变化和已被截断的信息，只能通过质量标志、重新标定或推动硬件链路改进，不能承诺恢复真实力。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从真实载荷到产品输出，依次经过结构传播、材料状态、电学响应、采集电路和软件校正。我们不追求一开始建立完整材料有限元，而是建立每个参数都能通过实验辨识的灰盒模型。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这页讲具体研究方法。每组实验只改变一个主要因素，并完整保留空载、加载、保持、释放和恢复。训练与测试按整条录制、位置、日期和设备划分，不能用测试录制自身估计最终参数。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这页是上位机开发主线。先校验和识别设备，再做基线与坏点，之后才进入空间、标定和动态状态。显示处理必须最后分支，不能反写测量数据。每个模块都应支持离线回放和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A/B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这是本次汇报希望确认的工作计划。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解决数据和链路透明；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完成模型辨识，是主要工作量；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只在证据充分时做高级补偿。每个阶段都有明确产出和继续投入的条件。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最后收口到管理价值和决策请求。最终应能明确哪些误差已经补偿、哪些状态需要重新标定、哪些设备不可用。请求确认产品目标、允许固件保留原始数据、协调硬件提供链路信息，并批准受控实验资源。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9960" cy="10800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logo.png"/>
          <p:cNvPicPr/>
          <p:nvPr/>
        </p:nvPicPr>
        <p:blipFill>
          <a:blip r:embed="rId1"/>
          <a:stretch/>
        </p:blipFill>
        <p:spPr>
          <a:xfrm>
            <a:off x="749880" y="567000"/>
            <a:ext cx="711360" cy="71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3"/>
          <p:cNvSpPr/>
          <p:nvPr/>
        </p:nvSpPr>
        <p:spPr>
          <a:xfrm>
            <a:off x="1572840" y="71316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ModuTech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965600" y="2520000"/>
            <a:ext cx="81133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34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柔性压感传感器</a:t>
            </a:r>
            <a:r>
              <a:rPr lang="zh-CN" sz="34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软件建模和算法</a:t>
            </a:r>
            <a:r>
              <a:rPr lang="zh-CN" sz="34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工作目标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4499280" y="3255480"/>
            <a:ext cx="2741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汇报人：李文轩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58440" y="384120"/>
            <a:ext cx="9873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结论：下一阶段不是“继续调滤波”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685800" y="932760"/>
            <a:ext cx="105138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建议建立一套按问题分层、按设备分流、可回放验收的软件建模体系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658440" y="1444680"/>
            <a:ext cx="3427200" cy="135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0"/>
          <p:cNvSpPr/>
          <p:nvPr/>
        </p:nvSpPr>
        <p:spPr>
          <a:xfrm>
            <a:off x="658440" y="1444680"/>
            <a:ext cx="71280" cy="1351440"/>
          </a:xfrm>
          <a:prstGeom prst="rect">
            <a:avLst/>
          </a:prstGeom>
          <a:solidFill>
            <a:srgbClr val="C84D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859680" y="15634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当前困境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859680" y="2002680"/>
            <a:ext cx="30614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时漂、帧间噪声、约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15%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跨次差异、空间伪影、正压非零背景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3"/>
          <p:cNvSpPr/>
          <p:nvPr/>
        </p:nvSpPr>
        <p:spPr>
          <a:xfrm>
            <a:off x="4380120" y="1444680"/>
            <a:ext cx="3427200" cy="135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4"/>
          <p:cNvSpPr/>
          <p:nvPr/>
        </p:nvSpPr>
        <p:spPr>
          <a:xfrm>
            <a:off x="4380120" y="1444680"/>
            <a:ext cx="71280" cy="135144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4581000" y="15634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核</a:t>
            </a: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心</a:t>
            </a: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判</a:t>
            </a: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4581000" y="2002680"/>
            <a:ext cx="30614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统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一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的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应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是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建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层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级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，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不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是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所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有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设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备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共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用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同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一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套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参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7"/>
          <p:cNvSpPr/>
          <p:nvPr/>
        </p:nvSpPr>
        <p:spPr>
          <a:xfrm>
            <a:off x="8101440" y="1444680"/>
            <a:ext cx="3427200" cy="135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8"/>
          <p:cNvSpPr/>
          <p:nvPr/>
        </p:nvSpPr>
        <p:spPr>
          <a:xfrm>
            <a:off x="8101440" y="1444680"/>
            <a:ext cx="71280" cy="1351440"/>
          </a:xfrm>
          <a:prstGeom prst="rect">
            <a:avLst/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302680" y="15634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软件目标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8302680" y="2002680"/>
            <a:ext cx="30614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保留原始量，分离误差来源，建立校正量、力值与质量状态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1"/>
          <p:cNvSpPr/>
          <p:nvPr/>
        </p:nvSpPr>
        <p:spPr>
          <a:xfrm>
            <a:off x="2125440" y="3240000"/>
            <a:ext cx="23299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2125440" y="3349800"/>
            <a:ext cx="2329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467B2"/>
                </a:solidFill>
                <a:effectLst/>
                <a:uFillTx/>
                <a:latin typeface="微软雅黑"/>
              </a:rPr>
              <a:t>Stage 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2216880" y="3907440"/>
            <a:ext cx="21470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链路透明与数据规范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Connector 24"/>
          <p:cNvCxnSpPr/>
          <p:nvPr/>
        </p:nvCxnSpPr>
        <p:spPr>
          <a:xfrm>
            <a:off x="4530240" y="3816000"/>
            <a:ext cx="605160" cy="1800"/>
          </a:xfrm>
          <a:prstGeom prst="straightConnector1">
            <a:avLst/>
          </a:prstGeom>
          <a:ln w="0">
            <a:solidFill>
              <a:srgbClr val="657284"/>
            </a:solidFill>
          </a:ln>
        </p:spPr>
      </p:cxnSp>
      <p:sp>
        <p:nvSpPr>
          <p:cNvPr id="96" name="Rounded Rectangle 25"/>
          <p:cNvSpPr/>
          <p:nvPr/>
        </p:nvSpPr>
        <p:spPr>
          <a:xfrm>
            <a:off x="5207040" y="3240000"/>
            <a:ext cx="23299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5207040" y="3349800"/>
            <a:ext cx="2329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D4872C"/>
                </a:solidFill>
                <a:effectLst/>
                <a:uFillTx/>
                <a:latin typeface="微软雅黑"/>
              </a:rPr>
              <a:t>Stage2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5298480" y="3907440"/>
            <a:ext cx="21470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方差分解与灰盒辨识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28"/>
          <p:cNvCxnSpPr/>
          <p:nvPr/>
        </p:nvCxnSpPr>
        <p:spPr>
          <a:xfrm>
            <a:off x="7611840" y="3816000"/>
            <a:ext cx="605160" cy="1800"/>
          </a:xfrm>
          <a:prstGeom prst="straightConnector1">
            <a:avLst/>
          </a:prstGeom>
          <a:ln w="0">
            <a:solidFill>
              <a:srgbClr val="657284"/>
            </a:solidFill>
          </a:ln>
        </p:spPr>
      </p:cxnSp>
      <p:sp>
        <p:nvSpPr>
          <p:cNvPr id="100" name="Rounded Rectangle 29"/>
          <p:cNvSpPr/>
          <p:nvPr/>
        </p:nvSpPr>
        <p:spPr>
          <a:xfrm>
            <a:off x="8288640" y="3240000"/>
            <a:ext cx="232992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8288640" y="3349800"/>
            <a:ext cx="2329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C8C68"/>
                </a:solidFill>
                <a:effectLst/>
                <a:uFillTx/>
                <a:latin typeface="微软雅黑"/>
              </a:rPr>
              <a:t>Stage3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1"/>
          <p:cNvSpPr/>
          <p:nvPr/>
        </p:nvSpPr>
        <p:spPr>
          <a:xfrm>
            <a:off x="8380080" y="3907440"/>
            <a:ext cx="21470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证据充分后的高级补偿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2"/>
          <p:cNvSpPr/>
          <p:nvPr/>
        </p:nvSpPr>
        <p:spPr>
          <a:xfrm>
            <a:off x="914400" y="4983480"/>
            <a:ext cx="10330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每一步都以留出数据上的可重复收益为准，而不是算法复杂度。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我们面对的是五类数学问题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这些问题的时间尺度、空间尺度和可修复性完全不同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9"/>
          <p:cNvSpPr/>
          <p:nvPr/>
        </p:nvSpPr>
        <p:spPr>
          <a:xfrm>
            <a:off x="713160" y="1600200"/>
            <a:ext cx="19368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0"/>
          <p:cNvSpPr/>
          <p:nvPr/>
        </p:nvSpPr>
        <p:spPr>
          <a:xfrm>
            <a:off x="713160" y="1600200"/>
            <a:ext cx="1936800" cy="108000"/>
          </a:xfrm>
          <a:prstGeom prst="rect">
            <a:avLst/>
          </a:prstGeom>
          <a:solidFill>
            <a:srgbClr val="2467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877680" y="1847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67B2"/>
                </a:solidFill>
                <a:effectLst/>
                <a:uFillTx/>
                <a:latin typeface="微软雅黑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877680" y="2249280"/>
            <a:ext cx="1625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零点与背景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877680" y="2779920"/>
            <a:ext cx="162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空载非零、共模、工频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4"/>
          <p:cNvSpPr/>
          <p:nvPr/>
        </p:nvSpPr>
        <p:spPr>
          <a:xfrm>
            <a:off x="2980800" y="1600200"/>
            <a:ext cx="19368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5"/>
          <p:cNvSpPr/>
          <p:nvPr/>
        </p:nvSpPr>
        <p:spPr>
          <a:xfrm>
            <a:off x="2980800" y="1600200"/>
            <a:ext cx="1936800" cy="10800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3145680" y="1847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0A7B5"/>
                </a:solidFill>
                <a:effectLst/>
                <a:uFillTx/>
                <a:latin typeface="微软雅黑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7"/>
          <p:cNvSpPr/>
          <p:nvPr/>
        </p:nvSpPr>
        <p:spPr>
          <a:xfrm>
            <a:off x="3145680" y="2249280"/>
            <a:ext cx="1625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静态映射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8"/>
          <p:cNvSpPr/>
          <p:nvPr/>
        </p:nvSpPr>
        <p:spPr>
          <a:xfrm>
            <a:off x="3145680" y="2779920"/>
            <a:ext cx="162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非线性、饱和、</a:t>
            </a:r>
            <a:r>
              <a:rPr lang="en-US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Cell </a:t>
            </a: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增益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9"/>
          <p:cNvSpPr/>
          <p:nvPr/>
        </p:nvSpPr>
        <p:spPr>
          <a:xfrm>
            <a:off x="5248800" y="1600200"/>
            <a:ext cx="19368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0"/>
          <p:cNvSpPr/>
          <p:nvPr/>
        </p:nvSpPr>
        <p:spPr>
          <a:xfrm>
            <a:off x="5248800" y="1600200"/>
            <a:ext cx="1936800" cy="10800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1"/>
          <p:cNvSpPr/>
          <p:nvPr/>
        </p:nvSpPr>
        <p:spPr>
          <a:xfrm>
            <a:off x="5413320" y="1847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4872C"/>
                </a:solidFill>
                <a:effectLst/>
                <a:uFillTx/>
                <a:latin typeface="微软雅黑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2"/>
          <p:cNvSpPr/>
          <p:nvPr/>
        </p:nvSpPr>
        <p:spPr>
          <a:xfrm>
            <a:off x="5413320" y="2249280"/>
            <a:ext cx="1625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记忆与时漂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3"/>
          <p:cNvSpPr/>
          <p:nvPr/>
        </p:nvSpPr>
        <p:spPr>
          <a:xfrm>
            <a:off x="5413320" y="2779920"/>
            <a:ext cx="162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迟滞、蠕变、恢复、温漂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24"/>
          <p:cNvSpPr/>
          <p:nvPr/>
        </p:nvSpPr>
        <p:spPr>
          <a:xfrm>
            <a:off x="7516440" y="1600200"/>
            <a:ext cx="19368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5"/>
          <p:cNvSpPr/>
          <p:nvPr/>
        </p:nvSpPr>
        <p:spPr>
          <a:xfrm>
            <a:off x="7516440" y="1600200"/>
            <a:ext cx="1936800" cy="108000"/>
          </a:xfrm>
          <a:prstGeom prst="rect">
            <a:avLst/>
          </a:prstGeom>
          <a:solidFill>
            <a:srgbClr val="795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6"/>
          <p:cNvSpPr/>
          <p:nvPr/>
        </p:nvSpPr>
        <p:spPr>
          <a:xfrm>
            <a:off x="7680960" y="1847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95BA8"/>
                </a:solidFill>
                <a:effectLst/>
                <a:uFillTx/>
                <a:latin typeface="微软雅黑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7"/>
          <p:cNvSpPr/>
          <p:nvPr/>
        </p:nvSpPr>
        <p:spPr>
          <a:xfrm>
            <a:off x="7680960" y="2249280"/>
            <a:ext cx="1625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阵列与空间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8"/>
          <p:cNvSpPr/>
          <p:nvPr/>
        </p:nvSpPr>
        <p:spPr>
          <a:xfrm>
            <a:off x="7680960" y="2779920"/>
            <a:ext cx="162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机械扩散、串扰、坏点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29"/>
          <p:cNvSpPr/>
          <p:nvPr/>
        </p:nvSpPr>
        <p:spPr>
          <a:xfrm>
            <a:off x="9784080" y="1600200"/>
            <a:ext cx="19368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30"/>
          <p:cNvSpPr/>
          <p:nvPr/>
        </p:nvSpPr>
        <p:spPr>
          <a:xfrm>
            <a:off x="9784080" y="1600200"/>
            <a:ext cx="1936800" cy="108000"/>
          </a:xfrm>
          <a:prstGeom prst="rect">
            <a:avLst/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1"/>
          <p:cNvSpPr/>
          <p:nvPr/>
        </p:nvSpPr>
        <p:spPr>
          <a:xfrm>
            <a:off x="9948600" y="1847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8C68"/>
                </a:solidFill>
                <a:effectLst/>
                <a:uFillTx/>
                <a:latin typeface="微软雅黑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2"/>
          <p:cNvSpPr/>
          <p:nvPr/>
        </p:nvSpPr>
        <p:spPr>
          <a:xfrm>
            <a:off x="9948600" y="2249280"/>
            <a:ext cx="1625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显示与交互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3"/>
          <p:cNvSpPr/>
          <p:nvPr/>
        </p:nvSpPr>
        <p:spPr>
          <a:xfrm>
            <a:off x="9948600" y="2779920"/>
            <a:ext cx="162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跳动、闪烁、释放残影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34"/>
          <p:cNvSpPr/>
          <p:nvPr/>
        </p:nvSpPr>
        <p:spPr>
          <a:xfrm>
            <a:off x="1005840" y="4251960"/>
            <a:ext cx="10193760" cy="1022400"/>
          </a:xfrm>
          <a:prstGeom prst="roundRect">
            <a:avLst>
              <a:gd name="adj" fmla="val 16667"/>
            </a:avLst>
          </a:prstGeom>
          <a:solidFill>
            <a:srgbClr val="E8F1FA"/>
          </a:solidFill>
          <a:ln w="12700">
            <a:solidFill>
              <a:srgbClr val="C3D7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35"/>
          <p:cNvSpPr/>
          <p:nvPr/>
        </p:nvSpPr>
        <p:spPr>
          <a:xfrm>
            <a:off x="1234440" y="4434840"/>
            <a:ext cx="9736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原则：先识别问题属于哪一类，再决定是标定、状态模型、空间校正、时间滤波，还是只输出质量标志。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困境证据：时漂和帧间噪声必须分开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同一条曲线中可以同时存在慢趋势和高频跳动，但二者需要不同模型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9" descr="困境-数据时漂.png"/>
          <p:cNvPicPr/>
          <p:nvPr/>
        </p:nvPicPr>
        <p:blipFill>
          <a:blip r:embed="rId2"/>
          <a:stretch/>
        </p:blipFill>
        <p:spPr>
          <a:xfrm>
            <a:off x="567000" y="2304360"/>
            <a:ext cx="5594400" cy="238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10" descr="困境-数据噪声.png"/>
          <p:cNvPicPr/>
          <p:nvPr/>
        </p:nvPicPr>
        <p:blipFill>
          <a:blip r:embed="rId3"/>
          <a:stretch/>
        </p:blipFill>
        <p:spPr>
          <a:xfrm>
            <a:off x="6199560" y="2341440"/>
            <a:ext cx="5420520" cy="231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Rounded Rectangle 11"/>
          <p:cNvSpPr/>
          <p:nvPr/>
        </p:nvSpPr>
        <p:spPr>
          <a:xfrm>
            <a:off x="1463040" y="5715000"/>
            <a:ext cx="2192760" cy="345600"/>
          </a:xfrm>
          <a:prstGeom prst="roundRect">
            <a:avLst>
              <a:gd name="adj" fmla="val 16667"/>
            </a:avLst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慢趋势 → 状态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/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环境模型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2"/>
          <p:cNvSpPr/>
          <p:nvPr/>
        </p:nvSpPr>
        <p:spPr>
          <a:xfrm>
            <a:off x="7726680" y="5715000"/>
            <a:ext cx="2192760" cy="345600"/>
          </a:xfrm>
          <a:prstGeom prst="roundRect">
            <a:avLst>
              <a:gd name="adj" fmla="val 16667"/>
            </a:avLst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帧间震荡 → 因果低通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困境证据：空间伪影与跨次差异影响“可信度”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热图更干净不代表真实压力被恢复；同一砝码更平滑也不代表两次结果一致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9" descr="困境-串扰伪影.png"/>
          <p:cNvPicPr/>
          <p:nvPr/>
        </p:nvPicPr>
        <p:blipFill>
          <a:blip r:embed="rId2"/>
          <a:stretch/>
        </p:blipFill>
        <p:spPr>
          <a:xfrm>
            <a:off x="594360" y="2358000"/>
            <a:ext cx="5804640" cy="23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ounded Rectangle 10"/>
          <p:cNvSpPr/>
          <p:nvPr/>
        </p:nvSpPr>
        <p:spPr>
          <a:xfrm>
            <a:off x="6720840" y="1572840"/>
            <a:ext cx="4707360" cy="129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6720840" y="1572840"/>
            <a:ext cx="71280" cy="1296720"/>
          </a:xfrm>
          <a:prstGeom prst="rect">
            <a:avLst/>
          </a:prstGeom>
          <a:solidFill>
            <a:srgbClr val="C84D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6922080" y="1691640"/>
            <a:ext cx="43416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约 </a:t>
            </a:r>
            <a:r>
              <a:rPr lang="en-US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15% </a:t>
            </a:r>
            <a:r>
              <a:rPr lang="zh-CN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跨次差异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6922080" y="2130480"/>
            <a:ext cx="4341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对触摸检测可能可容忍；对定量测力通常意味着尚未形成稳定标定。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4"/>
          <p:cNvSpPr/>
          <p:nvPr/>
        </p:nvSpPr>
        <p:spPr>
          <a:xfrm>
            <a:off x="6720840" y="3136320"/>
            <a:ext cx="4707360" cy="129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15"/>
          <p:cNvSpPr/>
          <p:nvPr/>
        </p:nvSpPr>
        <p:spPr>
          <a:xfrm>
            <a:off x="6720840" y="3136320"/>
            <a:ext cx="71280" cy="129672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6922080" y="3255120"/>
            <a:ext cx="43416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不是同一种“噪声”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6922080" y="3694320"/>
            <a:ext cx="4341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保持段波动、重复放置、位置差异、跨日期和跨设备必须分别统计。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8"/>
          <p:cNvSpPr/>
          <p:nvPr/>
        </p:nvSpPr>
        <p:spPr>
          <a:xfrm>
            <a:off x="6720840" y="4700160"/>
            <a:ext cx="4707360" cy="129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9"/>
          <p:cNvSpPr/>
          <p:nvPr/>
        </p:nvSpPr>
        <p:spPr>
          <a:xfrm>
            <a:off x="6720840" y="4700160"/>
            <a:ext cx="71280" cy="1296720"/>
          </a:xfrm>
          <a:prstGeom prst="rect">
            <a:avLst/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0"/>
          <p:cNvSpPr/>
          <p:nvPr/>
        </p:nvSpPr>
        <p:spPr>
          <a:xfrm>
            <a:off x="6922080" y="4818960"/>
            <a:ext cx="43416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软件可做什么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1"/>
          <p:cNvSpPr/>
          <p:nvPr/>
        </p:nvSpPr>
        <p:spPr>
          <a:xfrm>
            <a:off x="6922080" y="5257800"/>
            <a:ext cx="4341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通过元数据、受控实验、分层参数和质量标志，把随机差异转成可判断的工程状态。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658440" y="384120"/>
            <a:ext cx="987372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不修改工艺，算法能解决多少？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必须明确能力边界，避免把不可辨识问题包装成算法效果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9"/>
          <p:cNvSpPr/>
          <p:nvPr/>
        </p:nvSpPr>
        <p:spPr>
          <a:xfrm>
            <a:off x="713160" y="155448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10"/>
          <p:cNvSpPr/>
          <p:nvPr/>
        </p:nvSpPr>
        <p:spPr>
          <a:xfrm>
            <a:off x="713160" y="1554480"/>
            <a:ext cx="71280" cy="1964160"/>
          </a:xfrm>
          <a:prstGeom prst="rect">
            <a:avLst/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914400" y="16732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可直接校正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914400" y="2112120"/>
            <a:ext cx="306144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软件基线、已知偏置、可观测共模、板级 </a:t>
            </a:r>
            <a:r>
              <a:rPr lang="en-US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offset/gain</a:t>
            </a: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、稳定非线性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3"/>
          <p:cNvSpPr/>
          <p:nvPr/>
        </p:nvSpPr>
        <p:spPr>
          <a:xfrm>
            <a:off x="4380120" y="155448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14"/>
          <p:cNvSpPr/>
          <p:nvPr/>
        </p:nvSpPr>
        <p:spPr>
          <a:xfrm>
            <a:off x="4380120" y="1554480"/>
            <a:ext cx="71280" cy="196416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4581000" y="16732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可部分建模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6"/>
          <p:cNvSpPr/>
          <p:nvPr/>
        </p:nvSpPr>
        <p:spPr>
          <a:xfrm>
            <a:off x="4581000" y="2112120"/>
            <a:ext cx="306144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迟滞、蠕变、温漂、位置响应；前提是有状态、温度或实验变量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7"/>
          <p:cNvSpPr/>
          <p:nvPr/>
        </p:nvSpPr>
        <p:spPr>
          <a:xfrm>
            <a:off x="8046720" y="155448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8"/>
          <p:cNvSpPr/>
          <p:nvPr/>
        </p:nvSpPr>
        <p:spPr>
          <a:xfrm>
            <a:off x="8046720" y="1554480"/>
            <a:ext cx="71280" cy="1964160"/>
          </a:xfrm>
          <a:prstGeom prst="rect">
            <a:avLst/>
          </a:prstGeom>
          <a:solidFill>
            <a:srgbClr val="C84D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8247960" y="1673280"/>
            <a:ext cx="306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不可可靠恢复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0"/>
          <p:cNvSpPr/>
          <p:nvPr/>
        </p:nvSpPr>
        <p:spPr>
          <a:xfrm>
            <a:off x="8247960" y="2112120"/>
            <a:ext cx="306144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4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随机装夹、不可重复材料跳变、模拟饱和、已截零且未保存的原始信息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21"/>
          <p:cNvSpPr/>
          <p:nvPr/>
        </p:nvSpPr>
        <p:spPr>
          <a:xfrm>
            <a:off x="1005840" y="4069080"/>
            <a:ext cx="10193760" cy="1186920"/>
          </a:xfrm>
          <a:prstGeom prst="roundRect">
            <a:avLst>
              <a:gd name="adj" fmla="val 16667"/>
            </a:avLst>
          </a:prstGeom>
          <a:solidFill>
            <a:srgbClr val="13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1280160" y="4316040"/>
            <a:ext cx="96451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软件工作的价值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= 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提升可解释性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提升可标定性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减少可观测误差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明确不可用状态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5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理论目标：建立分层灰盒模型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统一的是观测链路，不是碳膜、织物和手套共用同一组参数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Picture 9" descr="分层模型.png"/>
          <p:cNvPicPr/>
          <p:nvPr/>
        </p:nvPicPr>
        <p:blipFill>
          <a:blip r:embed="rId2"/>
          <a:stretch/>
        </p:blipFill>
        <p:spPr>
          <a:xfrm>
            <a:off x="1958760" y="1280160"/>
            <a:ext cx="3844080" cy="48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ounded Rectangle 10"/>
          <p:cNvSpPr/>
          <p:nvPr/>
        </p:nvSpPr>
        <p:spPr>
          <a:xfrm>
            <a:off x="7452360" y="1481400"/>
            <a:ext cx="406728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1"/>
          <p:cNvSpPr/>
          <p:nvPr/>
        </p:nvSpPr>
        <p:spPr>
          <a:xfrm>
            <a:off x="7452360" y="1481400"/>
            <a:ext cx="71280" cy="123264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7653600" y="1600200"/>
            <a:ext cx="3701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快 </a:t>
            </a:r>
            <a:r>
              <a:rPr lang="en-US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/ </a:t>
            </a: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慢状态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3"/>
          <p:cNvSpPr/>
          <p:nvPr/>
        </p:nvSpPr>
        <p:spPr>
          <a:xfrm>
            <a:off x="7653600" y="2039040"/>
            <a:ext cx="3701520" cy="5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描述快速接触建立与慢速蠕变、恢复；加载、卸载、空载预热分别拟合。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4"/>
          <p:cNvSpPr/>
          <p:nvPr/>
        </p:nvSpPr>
        <p:spPr>
          <a:xfrm>
            <a:off x="7452360" y="2971800"/>
            <a:ext cx="406728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15"/>
          <p:cNvSpPr/>
          <p:nvPr/>
        </p:nvSpPr>
        <p:spPr>
          <a:xfrm>
            <a:off x="7452360" y="2971800"/>
            <a:ext cx="71280" cy="1232640"/>
          </a:xfrm>
          <a:prstGeom prst="rect">
            <a:avLst/>
          </a:prstGeom>
          <a:solidFill>
            <a:srgbClr val="2467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7653600" y="3090600"/>
            <a:ext cx="3701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Cell </a:t>
            </a: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分层参数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7653600" y="3529440"/>
            <a:ext cx="3701520" cy="5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全局模型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+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设备修正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+ Cell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修正，避免每个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Cell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独立过拟合。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8"/>
          <p:cNvSpPr/>
          <p:nvPr/>
        </p:nvSpPr>
        <p:spPr>
          <a:xfrm>
            <a:off x="7452360" y="4462200"/>
            <a:ext cx="406728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19"/>
          <p:cNvSpPr/>
          <p:nvPr/>
        </p:nvSpPr>
        <p:spPr>
          <a:xfrm>
            <a:off x="7452360" y="4462200"/>
            <a:ext cx="71280" cy="1232640"/>
          </a:xfrm>
          <a:prstGeom prst="rect">
            <a:avLst/>
          </a:prstGeom>
          <a:solidFill>
            <a:srgbClr val="795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7653600" y="4581000"/>
            <a:ext cx="3701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空间观测模型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7653600" y="5020200"/>
            <a:ext cx="3701520" cy="5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先验证线性、叠加和位置稳定，再决定局部核、分区核或只做质量提示。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6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研究方法：用受控实验完成方差分解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先回答误差来自哪里，再决定模型复杂度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9"/>
          <p:cNvSpPr/>
          <p:nvPr/>
        </p:nvSpPr>
        <p:spPr>
          <a:xfrm>
            <a:off x="658440" y="1572840"/>
            <a:ext cx="1945800" cy="301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0"/>
          <p:cNvSpPr/>
          <p:nvPr/>
        </p:nvSpPr>
        <p:spPr>
          <a:xfrm>
            <a:off x="822960" y="1810440"/>
            <a:ext cx="50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67B2"/>
                </a:solidFill>
                <a:effectLst/>
                <a:uFillTx/>
                <a:latin typeface="微软雅黑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822960" y="2313360"/>
            <a:ext cx="159840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链路审计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2"/>
          <p:cNvSpPr/>
          <p:nvPr/>
        </p:nvSpPr>
        <p:spPr>
          <a:xfrm>
            <a:off x="822960" y="2880360"/>
            <a:ext cx="1598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确认偏置、整流、截零、滤波发生在哪一层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Connector 13"/>
          <p:cNvCxnSpPr/>
          <p:nvPr/>
        </p:nvCxnSpPr>
        <p:spPr>
          <a:xfrm>
            <a:off x="2605680" y="3090600"/>
            <a:ext cx="294480" cy="1800"/>
          </a:xfrm>
          <a:prstGeom prst="straightConnector1">
            <a:avLst/>
          </a:prstGeom>
          <a:ln w="19050">
            <a:solidFill>
              <a:srgbClr val="657284"/>
            </a:solidFill>
            <a:round/>
          </a:ln>
        </p:spPr>
      </p:cxnSp>
      <p:sp>
        <p:nvSpPr>
          <p:cNvPr id="228" name="Rounded Rectangle 14"/>
          <p:cNvSpPr/>
          <p:nvPr/>
        </p:nvSpPr>
        <p:spPr>
          <a:xfrm>
            <a:off x="2926080" y="1572840"/>
            <a:ext cx="1945800" cy="301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3090600" y="1810440"/>
            <a:ext cx="50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0A7B5"/>
                </a:solidFill>
                <a:effectLst/>
                <a:uFillTx/>
                <a:latin typeface="微软雅黑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6"/>
          <p:cNvSpPr/>
          <p:nvPr/>
        </p:nvSpPr>
        <p:spPr>
          <a:xfrm>
            <a:off x="3090600" y="2313360"/>
            <a:ext cx="159840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噪声分类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7"/>
          <p:cNvSpPr/>
          <p:nvPr/>
        </p:nvSpPr>
        <p:spPr>
          <a:xfrm>
            <a:off x="3090600" y="2880360"/>
            <a:ext cx="1598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固定电阻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/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空载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/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多次上电 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/ </a:t>
            </a: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不同采样率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18"/>
          <p:cNvCxnSpPr/>
          <p:nvPr/>
        </p:nvCxnSpPr>
        <p:spPr>
          <a:xfrm>
            <a:off x="4873680" y="3090600"/>
            <a:ext cx="294480" cy="1800"/>
          </a:xfrm>
          <a:prstGeom prst="straightConnector1">
            <a:avLst/>
          </a:prstGeom>
          <a:ln w="19050">
            <a:solidFill>
              <a:srgbClr val="657284"/>
            </a:solidFill>
            <a:round/>
          </a:ln>
        </p:spPr>
      </p:cxnSp>
      <p:sp>
        <p:nvSpPr>
          <p:cNvPr id="233" name="Rounded Rectangle 19"/>
          <p:cNvSpPr/>
          <p:nvPr/>
        </p:nvSpPr>
        <p:spPr>
          <a:xfrm>
            <a:off x="5193720" y="1572840"/>
            <a:ext cx="1945800" cy="301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0"/>
          <p:cNvSpPr/>
          <p:nvPr/>
        </p:nvSpPr>
        <p:spPr>
          <a:xfrm>
            <a:off x="5358240" y="1810440"/>
            <a:ext cx="50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4872C"/>
                </a:solidFill>
                <a:effectLst/>
                <a:uFillTx/>
                <a:latin typeface="微软雅黑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1"/>
          <p:cNvSpPr/>
          <p:nvPr/>
        </p:nvSpPr>
        <p:spPr>
          <a:xfrm>
            <a:off x="5358240" y="2313360"/>
            <a:ext cx="159840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动态辨识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2"/>
          <p:cNvSpPr/>
          <p:nvPr/>
        </p:nvSpPr>
        <p:spPr>
          <a:xfrm>
            <a:off x="5358240" y="2880360"/>
            <a:ext cx="1598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升降载、长保持、释放恢复、温度同步记录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23"/>
          <p:cNvCxnSpPr/>
          <p:nvPr/>
        </p:nvCxnSpPr>
        <p:spPr>
          <a:xfrm>
            <a:off x="7141320" y="3090600"/>
            <a:ext cx="294480" cy="1800"/>
          </a:xfrm>
          <a:prstGeom prst="straightConnector1">
            <a:avLst/>
          </a:prstGeom>
          <a:ln w="19050">
            <a:solidFill>
              <a:srgbClr val="657284"/>
            </a:solidFill>
            <a:round/>
          </a:ln>
        </p:spPr>
      </p:cxnSp>
      <p:sp>
        <p:nvSpPr>
          <p:cNvPr id="238" name="Rounded Rectangle 24"/>
          <p:cNvSpPr/>
          <p:nvPr/>
        </p:nvSpPr>
        <p:spPr>
          <a:xfrm>
            <a:off x="7461360" y="1572840"/>
            <a:ext cx="1945800" cy="301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5"/>
          <p:cNvSpPr/>
          <p:nvPr/>
        </p:nvSpPr>
        <p:spPr>
          <a:xfrm>
            <a:off x="7626240" y="1810440"/>
            <a:ext cx="50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95BA8"/>
                </a:solidFill>
                <a:effectLst/>
                <a:uFillTx/>
                <a:latin typeface="微软雅黑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6"/>
          <p:cNvSpPr/>
          <p:nvPr/>
        </p:nvSpPr>
        <p:spPr>
          <a:xfrm>
            <a:off x="7626240" y="2313360"/>
            <a:ext cx="159840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空间辨识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7"/>
          <p:cNvSpPr/>
          <p:nvPr/>
        </p:nvSpPr>
        <p:spPr>
          <a:xfrm>
            <a:off x="7626240" y="2880360"/>
            <a:ext cx="1598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中心边角、不同压头、单点扫描、双点叠加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28"/>
          <p:cNvCxnSpPr/>
          <p:nvPr/>
        </p:nvCxnSpPr>
        <p:spPr>
          <a:xfrm>
            <a:off x="9408960" y="3090600"/>
            <a:ext cx="294480" cy="1800"/>
          </a:xfrm>
          <a:prstGeom prst="straightConnector1">
            <a:avLst/>
          </a:prstGeom>
          <a:ln w="19050">
            <a:solidFill>
              <a:srgbClr val="657284"/>
            </a:solidFill>
            <a:round/>
          </a:ln>
        </p:spPr>
      </p:cxnSp>
      <p:sp>
        <p:nvSpPr>
          <p:cNvPr id="243" name="Rounded Rectangle 29"/>
          <p:cNvSpPr/>
          <p:nvPr/>
        </p:nvSpPr>
        <p:spPr>
          <a:xfrm>
            <a:off x="9729360" y="1572840"/>
            <a:ext cx="1945800" cy="301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30"/>
          <p:cNvSpPr/>
          <p:nvPr/>
        </p:nvSpPr>
        <p:spPr>
          <a:xfrm>
            <a:off x="9893880" y="1810440"/>
            <a:ext cx="50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8C68"/>
                </a:solidFill>
                <a:effectLst/>
                <a:uFillTx/>
                <a:latin typeface="微软雅黑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1"/>
          <p:cNvSpPr/>
          <p:nvPr/>
        </p:nvSpPr>
        <p:spPr>
          <a:xfrm>
            <a:off x="9893880" y="2313360"/>
            <a:ext cx="159840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留出验收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2"/>
          <p:cNvSpPr/>
          <p:nvPr/>
        </p:nvSpPr>
        <p:spPr>
          <a:xfrm>
            <a:off x="9893880" y="2880360"/>
            <a:ext cx="1598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完整录制、位置、日期、设备独立测试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3"/>
          <p:cNvSpPr/>
          <p:nvPr/>
        </p:nvSpPr>
        <p:spPr>
          <a:xfrm>
            <a:off x="868680" y="5139000"/>
            <a:ext cx="104223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6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输出：基线、增益、非线性、迟滞、快慢时间常数、温漂、空间响应、坏点与不确定度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9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目标软件管线：从原始帧到可解释产品输出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每一步都有输入、参数、质量标志和可独立验收的指标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Picture 9" descr="上位机核心算法.png"/>
          <p:cNvPicPr/>
          <p:nvPr/>
        </p:nvPicPr>
        <p:blipFill>
          <a:blip r:embed="rId2"/>
          <a:stretch/>
        </p:blipFill>
        <p:spPr>
          <a:xfrm>
            <a:off x="2459160" y="1261800"/>
            <a:ext cx="7333200" cy="489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8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658440" y="38412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下一步工作计划：三阶段、三个阶段门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以证据推进，而不是以算法复杂度推进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9"/>
          <p:cNvSpPr/>
          <p:nvPr/>
        </p:nvSpPr>
        <p:spPr>
          <a:xfrm>
            <a:off x="749880" y="1572840"/>
            <a:ext cx="3399840" cy="347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ounded Rectangle 10"/>
          <p:cNvSpPr/>
          <p:nvPr/>
        </p:nvSpPr>
        <p:spPr>
          <a:xfrm>
            <a:off x="951120" y="1810440"/>
            <a:ext cx="748080" cy="345600"/>
          </a:xfrm>
          <a:prstGeom prst="roundRect">
            <a:avLst>
              <a:gd name="adj" fmla="val 16667"/>
            </a:avLst>
          </a:prstGeom>
          <a:solidFill>
            <a:srgbClr val="2467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P0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1"/>
          <p:cNvSpPr/>
          <p:nvPr/>
        </p:nvSpPr>
        <p:spPr>
          <a:xfrm>
            <a:off x="2578680" y="184716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467B2"/>
                </a:solidFill>
                <a:effectLst/>
                <a:uFillTx/>
                <a:latin typeface="微软雅黑"/>
              </a:rPr>
              <a:t>2–3 </a:t>
            </a:r>
            <a:r>
              <a:rPr lang="zh-CN" sz="1200" b="1" u="none" strike="noStrike">
                <a:solidFill>
                  <a:srgbClr val="2467B2"/>
                </a:solidFill>
                <a:effectLst/>
                <a:uFillTx/>
                <a:latin typeface="微软雅黑"/>
              </a:rPr>
              <a:t>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2"/>
          <p:cNvSpPr/>
          <p:nvPr/>
        </p:nvSpPr>
        <p:spPr>
          <a:xfrm>
            <a:off x="969120" y="239580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链路透明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3"/>
          <p:cNvSpPr/>
          <p:nvPr/>
        </p:nvSpPr>
        <p:spPr>
          <a:xfrm>
            <a:off x="969120" y="3072240"/>
            <a:ext cx="28328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观测链路表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原始数据规范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统一回放基线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ctor 14"/>
          <p:cNvCxnSpPr/>
          <p:nvPr/>
        </p:nvCxnSpPr>
        <p:spPr>
          <a:xfrm>
            <a:off x="4151160" y="3273480"/>
            <a:ext cx="331200" cy="1800"/>
          </a:xfrm>
          <a:prstGeom prst="straightConnector1">
            <a:avLst/>
          </a:prstGeom>
          <a:ln w="0">
            <a:solidFill>
              <a:srgbClr val="657284"/>
            </a:solidFill>
          </a:ln>
        </p:spPr>
      </p:cxnSp>
      <p:sp>
        <p:nvSpPr>
          <p:cNvPr id="271" name="Rounded Rectangle 15"/>
          <p:cNvSpPr/>
          <p:nvPr/>
        </p:nvSpPr>
        <p:spPr>
          <a:xfrm>
            <a:off x="4572000" y="1572840"/>
            <a:ext cx="3399840" cy="347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ounded Rectangle 16"/>
          <p:cNvSpPr/>
          <p:nvPr/>
        </p:nvSpPr>
        <p:spPr>
          <a:xfrm>
            <a:off x="4773240" y="1810440"/>
            <a:ext cx="748080" cy="345600"/>
          </a:xfrm>
          <a:prstGeom prst="roundRect">
            <a:avLst>
              <a:gd name="adj" fmla="val 16667"/>
            </a:avLst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P1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7"/>
          <p:cNvSpPr/>
          <p:nvPr/>
        </p:nvSpPr>
        <p:spPr>
          <a:xfrm>
            <a:off x="6400800" y="184716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4872C"/>
                </a:solidFill>
                <a:effectLst/>
                <a:uFillTx/>
                <a:latin typeface="微软雅黑"/>
              </a:rPr>
              <a:t>4–6 </a:t>
            </a:r>
            <a:r>
              <a:rPr lang="zh-CN" sz="1200" b="1" u="none" strike="noStrike">
                <a:solidFill>
                  <a:srgbClr val="D4872C"/>
                </a:solidFill>
                <a:effectLst/>
                <a:uFillTx/>
                <a:latin typeface="微软雅黑"/>
              </a:rPr>
              <a:t>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8"/>
          <p:cNvSpPr/>
          <p:nvPr/>
        </p:nvSpPr>
        <p:spPr>
          <a:xfrm>
            <a:off x="4791600" y="239580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模型辨识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9"/>
          <p:cNvSpPr/>
          <p:nvPr/>
        </p:nvSpPr>
        <p:spPr>
          <a:xfrm>
            <a:off x="4791600" y="3072240"/>
            <a:ext cx="28328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方差分解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逐 </a:t>
            </a:r>
            <a:r>
              <a:rPr lang="en-US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Cell </a:t>
            </a: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标定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动态 </a:t>
            </a:r>
            <a:r>
              <a:rPr lang="en-US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/ </a:t>
            </a: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空间模型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ctor 20"/>
          <p:cNvCxnSpPr/>
          <p:nvPr/>
        </p:nvCxnSpPr>
        <p:spPr>
          <a:xfrm>
            <a:off x="7973280" y="3273480"/>
            <a:ext cx="331200" cy="1800"/>
          </a:xfrm>
          <a:prstGeom prst="straightConnector1">
            <a:avLst/>
          </a:prstGeom>
          <a:ln w="0">
            <a:solidFill>
              <a:srgbClr val="657284"/>
            </a:solidFill>
          </a:ln>
        </p:spPr>
      </p:cxnSp>
      <p:sp>
        <p:nvSpPr>
          <p:cNvPr id="277" name="Rounded Rectangle 21"/>
          <p:cNvSpPr/>
          <p:nvPr/>
        </p:nvSpPr>
        <p:spPr>
          <a:xfrm>
            <a:off x="8394120" y="1572840"/>
            <a:ext cx="3399840" cy="347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ounded Rectangle 22"/>
          <p:cNvSpPr/>
          <p:nvPr/>
        </p:nvSpPr>
        <p:spPr>
          <a:xfrm>
            <a:off x="8595360" y="1810440"/>
            <a:ext cx="748080" cy="345600"/>
          </a:xfrm>
          <a:prstGeom prst="roundRect">
            <a:avLst>
              <a:gd name="adj" fmla="val 16667"/>
            </a:avLst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P2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3"/>
          <p:cNvSpPr/>
          <p:nvPr/>
        </p:nvSpPr>
        <p:spPr>
          <a:xfrm>
            <a:off x="10222920" y="184716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2C8C68"/>
                </a:solidFill>
                <a:effectLst/>
                <a:uFillTx/>
                <a:latin typeface="微软雅黑"/>
              </a:rPr>
              <a:t>证据门后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4"/>
          <p:cNvSpPr/>
          <p:nvPr/>
        </p:nvSpPr>
        <p:spPr>
          <a:xfrm>
            <a:off x="8613720" y="239580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产品化补偿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5"/>
          <p:cNvSpPr/>
          <p:nvPr/>
        </p:nvSpPr>
        <p:spPr>
          <a:xfrm>
            <a:off x="8613720" y="3072240"/>
            <a:ext cx="28328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设备分流配置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在线状态模型</a:t>
            </a:r>
            <a:br>
              <a:rPr sz="1500"/>
            </a:br>
            <a:r>
              <a:rPr lang="zh-CN" sz="15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跨设备验证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26"/>
          <p:cNvSpPr/>
          <p:nvPr/>
        </p:nvSpPr>
        <p:spPr>
          <a:xfrm>
            <a:off x="914400" y="5358240"/>
            <a:ext cx="10330920" cy="656640"/>
          </a:xfrm>
          <a:prstGeom prst="roundRect">
            <a:avLst>
              <a:gd name="adj" fmla="val 16667"/>
            </a:avLst>
          </a:prstGeom>
          <a:solidFill>
            <a:srgbClr val="E8F1FA"/>
          </a:solidFill>
          <a:ln w="12700">
            <a:solidFill>
              <a:srgbClr val="C3D7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7"/>
          <p:cNvSpPr/>
          <p:nvPr/>
        </p:nvSpPr>
        <p:spPr>
          <a:xfrm>
            <a:off x="1188720" y="5541120"/>
            <a:ext cx="97822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6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阶段门：参数可重复、留出集有效、跨设备收益稳定，才进入下一阶段。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20A7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Picture 2" descr="logo.png"/>
          <p:cNvPicPr/>
          <p:nvPr/>
        </p:nvPicPr>
        <p:blipFill>
          <a:blip r:embed="rId1"/>
          <a:stretch/>
        </p:blipFill>
        <p:spPr>
          <a:xfrm>
            <a:off x="10899720" y="182880"/>
            <a:ext cx="437040" cy="4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Box 3"/>
          <p:cNvSpPr/>
          <p:nvPr/>
        </p:nvSpPr>
        <p:spPr>
          <a:xfrm>
            <a:off x="9144000" y="246960"/>
            <a:ext cx="168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模量科技 </a:t>
            </a:r>
            <a:r>
              <a:rPr lang="en-US" sz="10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4"/>
          <p:cNvSpPr/>
          <p:nvPr/>
        </p:nvSpPr>
        <p:spPr>
          <a:xfrm>
            <a:off x="594360" y="6437520"/>
            <a:ext cx="10989360" cy="90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621720" y="6473880"/>
            <a:ext cx="47530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柔性压感传感器软件建模工作目标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6"/>
          <p:cNvSpPr/>
          <p:nvPr/>
        </p:nvSpPr>
        <p:spPr>
          <a:xfrm>
            <a:off x="10972800" y="647388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7"/>
          <p:cNvSpPr/>
          <p:nvPr/>
        </p:nvSpPr>
        <p:spPr>
          <a:xfrm>
            <a:off x="658440" y="384120"/>
            <a:ext cx="987372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7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最终效果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8"/>
          <p:cNvSpPr/>
          <p:nvPr/>
        </p:nvSpPr>
        <p:spPr>
          <a:xfrm>
            <a:off x="685800" y="932760"/>
            <a:ext cx="10513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目标不是承诺</a:t>
            </a:r>
            <a:r>
              <a:rPr lang="en-US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“消灭材料差异”，而是把系统从不可解释推进到可测量、可诊断、可迭代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9"/>
          <p:cNvSpPr/>
          <p:nvPr/>
        </p:nvSpPr>
        <p:spPr>
          <a:xfrm>
            <a:off x="713160" y="1481400"/>
            <a:ext cx="513720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10"/>
          <p:cNvSpPr/>
          <p:nvPr/>
        </p:nvSpPr>
        <p:spPr>
          <a:xfrm>
            <a:off x="713160" y="1481400"/>
            <a:ext cx="71280" cy="1168560"/>
          </a:xfrm>
          <a:prstGeom prst="rect">
            <a:avLst/>
          </a:prstGeom>
          <a:solidFill>
            <a:srgbClr val="2467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1"/>
          <p:cNvSpPr/>
          <p:nvPr/>
        </p:nvSpPr>
        <p:spPr>
          <a:xfrm>
            <a:off x="914400" y="1600200"/>
            <a:ext cx="477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数据可信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2"/>
          <p:cNvSpPr/>
          <p:nvPr/>
        </p:nvSpPr>
        <p:spPr>
          <a:xfrm>
            <a:off x="914400" y="2039040"/>
            <a:ext cx="47714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原始、校正、力值和质量状态可追溯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3"/>
          <p:cNvSpPr/>
          <p:nvPr/>
        </p:nvSpPr>
        <p:spPr>
          <a:xfrm>
            <a:off x="6245280" y="1481400"/>
            <a:ext cx="513720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14"/>
          <p:cNvSpPr/>
          <p:nvPr/>
        </p:nvSpPr>
        <p:spPr>
          <a:xfrm>
            <a:off x="6245280" y="1481400"/>
            <a:ext cx="71280" cy="1168560"/>
          </a:xfrm>
          <a:prstGeom prst="rect">
            <a:avLst/>
          </a:prstGeom>
          <a:solidFill>
            <a:srgbClr val="D487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5"/>
          <p:cNvSpPr/>
          <p:nvPr/>
        </p:nvSpPr>
        <p:spPr>
          <a:xfrm>
            <a:off x="6446520" y="1600200"/>
            <a:ext cx="477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模型可解释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6"/>
          <p:cNvSpPr/>
          <p:nvPr/>
        </p:nvSpPr>
        <p:spPr>
          <a:xfrm>
            <a:off x="6446520" y="2039040"/>
            <a:ext cx="47714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能区分噪声、漂移、迟滞、位置和设备差异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17"/>
          <p:cNvSpPr/>
          <p:nvPr/>
        </p:nvSpPr>
        <p:spPr>
          <a:xfrm>
            <a:off x="713160" y="2926080"/>
            <a:ext cx="513720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18"/>
          <p:cNvSpPr/>
          <p:nvPr/>
        </p:nvSpPr>
        <p:spPr>
          <a:xfrm>
            <a:off x="713160" y="2926080"/>
            <a:ext cx="71280" cy="1168560"/>
          </a:xfrm>
          <a:prstGeom prst="rect">
            <a:avLst/>
          </a:prstGeom>
          <a:solidFill>
            <a:srgbClr val="2C8C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19"/>
          <p:cNvSpPr/>
          <p:nvPr/>
        </p:nvSpPr>
        <p:spPr>
          <a:xfrm>
            <a:off x="914400" y="3044880"/>
            <a:ext cx="477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产品可配置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0"/>
          <p:cNvSpPr/>
          <p:nvPr/>
        </p:nvSpPr>
        <p:spPr>
          <a:xfrm>
            <a:off x="914400" y="3483720"/>
            <a:ext cx="47714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碳膜、织物、手套按设备和模式分流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21"/>
          <p:cNvSpPr/>
          <p:nvPr/>
        </p:nvSpPr>
        <p:spPr>
          <a:xfrm>
            <a:off x="6245280" y="2926080"/>
            <a:ext cx="5137200" cy="116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22"/>
          <p:cNvSpPr/>
          <p:nvPr/>
        </p:nvSpPr>
        <p:spPr>
          <a:xfrm>
            <a:off x="6245280" y="2926080"/>
            <a:ext cx="71280" cy="1168560"/>
          </a:xfrm>
          <a:prstGeom prst="rect">
            <a:avLst/>
          </a:prstGeom>
          <a:solidFill>
            <a:srgbClr val="795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640" tIns="45000" rIns="35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23"/>
          <p:cNvSpPr/>
          <p:nvPr/>
        </p:nvSpPr>
        <p:spPr>
          <a:xfrm>
            <a:off x="6446520" y="3044880"/>
            <a:ext cx="477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13253D"/>
                </a:solidFill>
                <a:effectLst/>
                <a:uFillTx/>
                <a:latin typeface="微软雅黑"/>
              </a:rPr>
              <a:t>效果可验收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4"/>
          <p:cNvSpPr/>
          <p:nvPr/>
        </p:nvSpPr>
        <p:spPr>
          <a:xfrm>
            <a:off x="6446520" y="3483720"/>
            <a:ext cx="47714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准确度、稳定性、延迟和空间指标同时报告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25"/>
          <p:cNvSpPr/>
          <p:nvPr/>
        </p:nvSpPr>
        <p:spPr>
          <a:xfrm>
            <a:off x="822960" y="4498920"/>
            <a:ext cx="10559520" cy="541080"/>
          </a:xfrm>
          <a:prstGeom prst="roundRect">
            <a:avLst>
              <a:gd name="adj" fmla="val 16667"/>
            </a:avLst>
          </a:prstGeom>
          <a:solidFill>
            <a:srgbClr val="13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26"/>
          <p:cNvSpPr/>
          <p:nvPr/>
        </p:nvSpPr>
        <p:spPr>
          <a:xfrm>
            <a:off x="1099080" y="4617720"/>
            <a:ext cx="1141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20A7B5"/>
                </a:solidFill>
                <a:effectLst/>
                <a:uFillTx/>
                <a:latin typeface="微软雅黑"/>
              </a:rPr>
              <a:t>需要确认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27"/>
          <p:cNvSpPr/>
          <p:nvPr/>
        </p:nvSpPr>
        <p:spPr>
          <a:xfrm>
            <a:off x="2240280" y="4617720"/>
            <a:ext cx="86392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① 产品目标与验收指标   ② 原始数据链路支持   ③ 受控实验与跨设备样本   ④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P0 / P1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微软雅黑"/>
              </a:rPr>
              <a:t>工作优先级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8"/>
          <p:cNvSpPr/>
          <p:nvPr/>
        </p:nvSpPr>
        <p:spPr>
          <a:xfrm>
            <a:off x="822960" y="5925240"/>
            <a:ext cx="365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李文轩｜模量科技 </a:t>
            </a:r>
            <a:r>
              <a:rPr lang="en-US" sz="1100" b="1" u="none" strike="noStrike">
                <a:solidFill>
                  <a:srgbClr val="657284"/>
                </a:solidFill>
                <a:effectLst/>
                <a:uFillTx/>
                <a:latin typeface="微软雅黑"/>
              </a:rPr>
              <a:t>ModuTech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LibreOffice/26.2.4.2$Windows_X86_64 LibreOffice_project/0229ac93fcf0d7cbc6376066c6f35021cef002dc</Application>
  <AppVersion>15.0000</AppVersion>
  <Words>2243</Words>
  <Paragraphs>314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/>
  <dc:description>generated using python-pptx</dc:description>
  <dc:language>zh-CN</dc:language>
  <cp:lastModifiedBy/>
  <dcterms:modified xsi:type="dcterms:W3CDTF">2026-07-21T19:01:41Z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E55D91EDAD5C4AC192F4002D5D7D9AF2_12</vt:lpwstr>
  </property>
  <property fmtid="{D5CDD505-2E9C-101B-9397-08002B2CF9AE}" pid="3" name="KSOProductBuildVer">
    <vt:lpwstr>1033-12.1.0.26880</vt:lpwstr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