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这一页建立共同语言。请注意跨次差异不等于随机噪声，时漂也不等于基线漂移。后面的研究和软件架构会按这五类问题分别设计，避免用一个滤波器处理所有现象。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左图强调固定载荷下仍有慢趋势，右图强调稳态局部窗口的帧间震荡。低通只对右边有效；左边需要区分材料蠕变、界面变化、温度和电路预热。汇报时不要承诺滤波能够解决全部时漂。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左侧是串扰机理示意，必须明确它不是当前膜片的实测系数。右侧解释为什么 15% 跨次差异不能靠 EMA 解决：它可能来自位置、装夹、材料历史、环境和设备。我们的任务是用实验把这些方差拆开。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这一页用于管理预期。软件能够修复的是可观测、可重复、可验证的误差；对于随机接触、结构变化和已被截断的信息，只能通过质量标志、重新标定或推动硬件链路改进，不能承诺恢复真实力。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从真实载荷到产品输出，依次经过结构传播、材料状态、电学响应、采集电路和软件校正。我们不追求一开始建立完整材料有限元，而是建立每个参数都能通过实验辨识的灰盒模型。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这页讲具体研究方法。每组实验只改变一个主要因素，并完整保留空载、加载、保持、释放和恢复。训练与测试按整条录制、位置、日期和设备划分，不能用测试录制自身估计最终参数。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嵌入式重点保证数据可信和设备健康，上位机负责设备模式、模型选择和较重计算。两端都必须保留原始流，所有不可逆处理可以关闭。这样既满足实时性，也支持后续模型迭代。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这页是上位机开发主线。先校验和识别设备，再做基线与坏点，之后才进入空间、标定和动态状态。显示处理必须最后分支，不能反写测量数据。每个模块都应支持离线回放和 A/B。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这是本次汇报希望确认的工作计划。P0 解决数据和链路透明；P1 完成模型辨识，是主要工作量；P2 只在证据充分时做高级补偿。每个阶段都有明确产出和继续投入的条件。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最后收口到管理价值和决策请求。最终应能明确哪些误差已经补偿、哪些状态需要重新标定、哪些设备不可用。请求确认产品目标、允许固件保留原始数据、协调硬件提供链路信息，并批准受控实验资源。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5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0A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6928"/>
            <a:ext cx="713232" cy="7132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2768" y="713232"/>
            <a:ext cx="292608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模量科技 ModuTech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05583" y="2317114"/>
            <a:ext cx="6766560" cy="573405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柔性压感传感器软件建模工作目标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9229" y="3255645"/>
            <a:ext cx="2743200" cy="34747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汇报人：李文轩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A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8288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0" y="246888"/>
            <a:ext cx="1691640" cy="2560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000" b="1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模量科技 ModuTech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0991088" cy="10972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75488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柔性压感传感器软件建模工作目标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一页结论：下一阶段不是“继续调滤波”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10515600" cy="32918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建议建立一套按问题分层、按设备分流、可回放验收的软件建模体系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444752"/>
            <a:ext cx="34290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444752"/>
            <a:ext cx="73152" cy="1353312"/>
          </a:xfrm>
          <a:prstGeom prst="rect">
            <a:avLst/>
          </a:prstGeom>
          <a:solidFill>
            <a:srgbClr val="C84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563624"/>
            <a:ext cx="3063240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当前困境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002536"/>
            <a:ext cx="3063240" cy="69494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时漂、帧间噪声、约 15% 跨次差异、空间伪影、正压非零背景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444752"/>
            <a:ext cx="34290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1444752"/>
            <a:ext cx="73152" cy="1353312"/>
          </a:xfrm>
          <a:prstGeom prst="rect">
            <a:avLst/>
          </a:prstGeom>
          <a:solidFill>
            <a:srgbClr val="D48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563624"/>
            <a:ext cx="3063240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核心判断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002536"/>
            <a:ext cx="3063240" cy="69494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统一的应是建模层级，不是所有设备共用同一套参数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444752"/>
            <a:ext cx="342900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444752"/>
            <a:ext cx="73152" cy="1353312"/>
          </a:xfrm>
          <a:prstGeom prst="rect">
            <a:avLst/>
          </a:prstGeom>
          <a:solidFill>
            <a:srgbClr val="2C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563624"/>
            <a:ext cx="3063240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软件目标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002536"/>
            <a:ext cx="3063240" cy="69494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保留原始量，分离误差来源，建立校正量、力值与质量状态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246120"/>
            <a:ext cx="2331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355848"/>
            <a:ext cx="2331720" cy="46609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2700" b="1">
                <a:solidFill>
                  <a:srgbClr val="2467B2"/>
                </a:solidFill>
                <a:latin typeface="微软雅黑" panose="020B0503020204020204" charset="-122"/>
              </a:defRPr>
            </a:pPr>
            <a:r>
              <a:rPr lang="en-US"/>
              <a:t>Stage 1</a:t>
            </a:r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68680" y="3913631"/>
            <a:ext cx="2148839" cy="29260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1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链路透明与数据规范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82112" y="3822191"/>
            <a:ext cx="603503" cy="0"/>
          </a:xfrm>
          <a:prstGeom prst="line">
            <a:avLst/>
          </a:prstGeom>
          <a:ln w="2540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58768" y="3246120"/>
            <a:ext cx="2331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58768" y="3355848"/>
            <a:ext cx="2331720" cy="46609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2700" b="1">
                <a:solidFill>
                  <a:srgbClr val="D4872C"/>
                </a:solidFill>
                <a:latin typeface="微软雅黑" panose="020B0503020204020204" charset="-122"/>
              </a:defRPr>
            </a:pPr>
            <a:r>
              <a:rPr lang="en-US"/>
              <a:t>Stage2</a:t>
            </a:r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950207" y="3913631"/>
            <a:ext cx="2148839" cy="29260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1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方差分解与灰盒辨识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63640" y="3822191"/>
            <a:ext cx="603504" cy="0"/>
          </a:xfrm>
          <a:prstGeom prst="line">
            <a:avLst/>
          </a:prstGeom>
          <a:ln w="2540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940296" y="3246120"/>
            <a:ext cx="23317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0296" y="3355848"/>
            <a:ext cx="2331720" cy="46609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2700" b="1">
                <a:solidFill>
                  <a:srgbClr val="2C8C68"/>
                </a:solidFill>
                <a:latin typeface="微软雅黑" panose="020B0503020204020204" charset="-122"/>
              </a:defRPr>
            </a:pPr>
            <a:r>
              <a:rPr lang="en-US"/>
              <a:t>Stage3</a:t>
            </a:r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7031736" y="3913631"/>
            <a:ext cx="2148839" cy="29260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1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证据充分后的高级补偿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83480"/>
            <a:ext cx="1033272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阶段门：每一步都以留出数据上的可重复收益为准，而不是算法复杂度。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A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8288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0" y="246888"/>
            <a:ext cx="1691640" cy="2560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000" b="1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模量科技 ModuTech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0991088" cy="10972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75488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柔性压感传感器软件建模工作目标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我们面对的是五类数学问题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10515600" cy="32918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这些问题的时间尺度、空间尺度和可修复性完全不同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00200"/>
            <a:ext cx="193852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600200"/>
            <a:ext cx="1938528" cy="109728"/>
          </a:xfrm>
          <a:prstGeom prst="rect">
            <a:avLst/>
          </a:prstGeom>
          <a:solidFill>
            <a:srgbClr val="24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847088"/>
            <a:ext cx="45720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1">
                <a:solidFill>
                  <a:srgbClr val="2467B2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249424"/>
            <a:ext cx="1627632" cy="4114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零点与背景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79776"/>
            <a:ext cx="1627632" cy="5486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2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空载非零、共模、工频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80944" y="1600200"/>
            <a:ext cx="193852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80944" y="1600200"/>
            <a:ext cx="1938528" cy="109728"/>
          </a:xfrm>
          <a:prstGeom prst="rect">
            <a:avLst/>
          </a:prstGeom>
          <a:solidFill>
            <a:srgbClr val="20A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45536" y="1847088"/>
            <a:ext cx="45720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1">
                <a:solidFill>
                  <a:srgbClr val="20A7B5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45536" y="2249424"/>
            <a:ext cx="1627632" cy="4114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静态映射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5536" y="2779776"/>
            <a:ext cx="1627632" cy="5486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2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非线性、饱和、Cell 增益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48656" y="1600200"/>
            <a:ext cx="193852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48656" y="1600200"/>
            <a:ext cx="1938528" cy="109728"/>
          </a:xfrm>
          <a:prstGeom prst="rect">
            <a:avLst/>
          </a:prstGeom>
          <a:solidFill>
            <a:srgbClr val="D48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13248" y="1847088"/>
            <a:ext cx="45720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1">
                <a:solidFill>
                  <a:srgbClr val="D4872C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3248" y="2249424"/>
            <a:ext cx="1627632" cy="4114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记忆与时漂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2779776"/>
            <a:ext cx="1627632" cy="5486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2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迟滞、蠕变、恢复、温漂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16367" y="1600200"/>
            <a:ext cx="193852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16367" y="1600200"/>
            <a:ext cx="1938528" cy="109728"/>
          </a:xfrm>
          <a:prstGeom prst="rect">
            <a:avLst/>
          </a:prstGeom>
          <a:solidFill>
            <a:srgbClr val="79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59" y="1847088"/>
            <a:ext cx="45720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1">
                <a:solidFill>
                  <a:srgbClr val="795BA8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59" y="2249424"/>
            <a:ext cx="1627632" cy="4114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阵列与空间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59" y="2779776"/>
            <a:ext cx="1627632" cy="5486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2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机械扩散、串扰、坏点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1600200"/>
            <a:ext cx="193852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84080" y="1600200"/>
            <a:ext cx="1938528" cy="109728"/>
          </a:xfrm>
          <a:prstGeom prst="rect">
            <a:avLst/>
          </a:prstGeom>
          <a:solidFill>
            <a:srgbClr val="2C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48672" y="1847088"/>
            <a:ext cx="45720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1">
                <a:solidFill>
                  <a:srgbClr val="2C8C68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2249424"/>
            <a:ext cx="1627632" cy="4114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显示与交互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2779776"/>
            <a:ext cx="1627632" cy="54864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2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跳动、闪烁、释放残影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4251960"/>
            <a:ext cx="10195560" cy="1024128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C3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434840"/>
            <a:ext cx="9738360" cy="6583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原则：先识别问题属于哪一类，再决定是标定、状态模型、空间校正、时间滤波，还是只输出质量标志。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A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8288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0" y="246888"/>
            <a:ext cx="1691640" cy="2560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000" b="1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模量科技 ModuTech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0991088" cy="10972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75488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柔性压感传感器软件建模工作目标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困境证据：时漂和帧间噪声必须分开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10515600" cy="32918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同一条曲线中可以同时存在慢趋势和高频跳动，但二者需要不同模型</a:t>
            </a:r>
          </a:p>
        </p:txBody>
      </p:sp>
      <p:pic>
        <p:nvPicPr>
          <p:cNvPr id="10" name="Picture 9" descr="困境-数据时漂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04228"/>
            <a:ext cx="5596128" cy="2386703"/>
          </a:xfrm>
          <a:prstGeom prst="rect">
            <a:avLst/>
          </a:prstGeom>
        </p:spPr>
      </p:pic>
      <p:pic>
        <p:nvPicPr>
          <p:cNvPr id="11" name="Picture 10" descr="困境-数据噪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341276"/>
            <a:ext cx="5422392" cy="231260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463040" y="5715000"/>
            <a:ext cx="2194560" cy="347472"/>
          </a:xfrm>
          <a:prstGeom prst="roundRect">
            <a:avLst/>
          </a:prstGeom>
          <a:solidFill>
            <a:srgbClr val="D48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慢趋势 → 状态/环境模型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5715000"/>
            <a:ext cx="2194560" cy="347472"/>
          </a:xfrm>
          <a:prstGeom prst="roundRect">
            <a:avLst/>
          </a:prstGeom>
          <a:solidFill>
            <a:srgbClr val="2C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帧间震荡 → 因果低通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A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8288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0" y="246888"/>
            <a:ext cx="1691640" cy="2560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000" b="1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模量科技 ModuTech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0991088" cy="10972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75488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柔性压感传感器软件建模工作目标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困境证据：空间伪影与跨次差异影响“可信度”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10515600" cy="32918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热图更干净不代表真实压力被恢复；同一砝码更平滑也不代表两次结果一致</a:t>
            </a:r>
          </a:p>
        </p:txBody>
      </p:sp>
      <p:pic>
        <p:nvPicPr>
          <p:cNvPr id="10" name="Picture 9" descr="困境-串扰伪影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57960"/>
            <a:ext cx="5806440" cy="231581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20840" y="1572768"/>
            <a:ext cx="47091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1572768"/>
            <a:ext cx="73152" cy="1298448"/>
          </a:xfrm>
          <a:prstGeom prst="rect">
            <a:avLst/>
          </a:prstGeom>
          <a:solidFill>
            <a:srgbClr val="C84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22007" y="1691640"/>
            <a:ext cx="4343400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0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约 15% 跨次差异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2007" y="2130552"/>
            <a:ext cx="4343400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对触摸检测可能可容忍；对定量测力通常意味着尚未形成稳定标定。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136392"/>
            <a:ext cx="47091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3136392"/>
            <a:ext cx="73152" cy="1298448"/>
          </a:xfrm>
          <a:prstGeom prst="rect">
            <a:avLst/>
          </a:prstGeom>
          <a:solidFill>
            <a:srgbClr val="D48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22007" y="3255264"/>
            <a:ext cx="4343400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不是同一种“噪声”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2007" y="3694176"/>
            <a:ext cx="4343400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保持段波动、重复放置、位置差异、跨日期和跨设备必须分别统计。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700016"/>
            <a:ext cx="470916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20840" y="4700016"/>
            <a:ext cx="73152" cy="1298448"/>
          </a:xfrm>
          <a:prstGeom prst="rect">
            <a:avLst/>
          </a:prstGeom>
          <a:solidFill>
            <a:srgbClr val="2C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2007" y="4818888"/>
            <a:ext cx="4343400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软件可做什么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7" y="5257800"/>
            <a:ext cx="4343400" cy="64008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通过元数据、受控实验、分层参数和质量标志，把随机差异转成可判断的工程状态。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A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8288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0" y="246888"/>
            <a:ext cx="1691640" cy="2560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000" b="1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模量科技 ModuTech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0991088" cy="10972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75488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柔性压感传感器软件建模工作目标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不修改工艺，软件能解决多少？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10515600" cy="32918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必须明确能力边界，避免把不可辨识问题包装成算法效果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55448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554480"/>
            <a:ext cx="73152" cy="1965960"/>
          </a:xfrm>
          <a:prstGeom prst="rect">
            <a:avLst/>
          </a:prstGeom>
          <a:solidFill>
            <a:srgbClr val="2C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73352"/>
            <a:ext cx="3063240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0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可直接校正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12264"/>
            <a:ext cx="3063240" cy="130759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软件基线、已知偏置、可观测共模、板级 offset/gain、稳定非线性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55448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9976" y="1554480"/>
            <a:ext cx="73152" cy="1965960"/>
          </a:xfrm>
          <a:prstGeom prst="rect">
            <a:avLst/>
          </a:prstGeom>
          <a:solidFill>
            <a:srgbClr val="D48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73352"/>
            <a:ext cx="3063240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0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可部分建模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112264"/>
            <a:ext cx="3063240" cy="130759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迟滞、蠕变、温漂、位置响应；前提是有状态、温度或实验变量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4290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554480"/>
            <a:ext cx="73152" cy="1965960"/>
          </a:xfrm>
          <a:prstGeom prst="rect">
            <a:avLst/>
          </a:prstGeom>
          <a:solidFill>
            <a:srgbClr val="C84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673352"/>
            <a:ext cx="3063240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0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不可可靠恢复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12264"/>
            <a:ext cx="3063240" cy="130759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随机装夹、不可重复材料跳变、模拟饱和、已截零且未保存的原始信息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4069080"/>
            <a:ext cx="10195560" cy="1188720"/>
          </a:xfrm>
          <a:prstGeom prst="roundRect">
            <a:avLst/>
          </a:prstGeom>
          <a:solidFill>
            <a:srgbClr val="13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4315968"/>
            <a:ext cx="9646920" cy="69494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软件工作的价值 = 提升可解释性 + 提升可标定性 + 减少可观测误差 + 明确不可用状态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A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8288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0" y="246888"/>
            <a:ext cx="1691640" cy="2560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000" b="1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模量科技 ModuTech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0991088" cy="10972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75488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柔性压感传感器软件建模工作目标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理论目标：建立分层灰盒模型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10515600" cy="32918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统一的是观测链路，不是碳膜、织物和手套共用同一组参数</a:t>
            </a:r>
          </a:p>
        </p:txBody>
      </p:sp>
      <p:pic>
        <p:nvPicPr>
          <p:cNvPr id="10" name="Picture 9" descr="分层模型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745" y="1280160"/>
            <a:ext cx="3845765" cy="48920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52360" y="1481328"/>
            <a:ext cx="4069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1481328"/>
            <a:ext cx="73152" cy="1234440"/>
          </a:xfrm>
          <a:prstGeom prst="rect">
            <a:avLst/>
          </a:prstGeom>
          <a:solidFill>
            <a:srgbClr val="D48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53528" y="1600200"/>
            <a:ext cx="3703320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快 / 慢状态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53528" y="2039112"/>
            <a:ext cx="3703320" cy="57607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描述快速接触建立与慢速蠕变、恢复；加载、卸载、空载预热分别拟合。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971800"/>
            <a:ext cx="4069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52360" y="2971800"/>
            <a:ext cx="73152" cy="1234440"/>
          </a:xfrm>
          <a:prstGeom prst="rect">
            <a:avLst/>
          </a:prstGeom>
          <a:solidFill>
            <a:srgbClr val="24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8" y="3090672"/>
            <a:ext cx="3703320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Cell 分层参数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3529584"/>
            <a:ext cx="3703320" cy="57607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全局模型 + 设备修正 + Cell 修正，避免每个 Cell 独立过拟合。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4462272"/>
            <a:ext cx="4069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4462272"/>
            <a:ext cx="73152" cy="1234440"/>
          </a:xfrm>
          <a:prstGeom prst="rect">
            <a:avLst/>
          </a:prstGeom>
          <a:solidFill>
            <a:srgbClr val="79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3528" y="4581144"/>
            <a:ext cx="3703320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空间观测模型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3528" y="5020056"/>
            <a:ext cx="3703320" cy="57607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先验证线性、叠加和位置稳定，再决定局部核、分区核或只做质量提示。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A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8288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0" y="246888"/>
            <a:ext cx="1691640" cy="2560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000" b="1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模量科技 ModuTech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0991088" cy="10972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75488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柔性压感传感器软件建模工作目标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研究方法：用受控实验完成方差分解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10515600" cy="32918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先回答误差来自哪里，再决定模型复杂度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72768"/>
            <a:ext cx="194767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10512"/>
            <a:ext cx="502920" cy="34747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1">
                <a:solidFill>
                  <a:srgbClr val="2467B2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313432"/>
            <a:ext cx="160020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链路审计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880360"/>
            <a:ext cx="1600200" cy="11430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确认偏置、整流、截零、滤波发生在哪一层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39" y="3090672"/>
            <a:ext cx="292609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6080" y="1572768"/>
            <a:ext cx="194767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0672" y="1810512"/>
            <a:ext cx="502920" cy="34747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1">
                <a:solidFill>
                  <a:srgbClr val="20A7B5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2313432"/>
            <a:ext cx="160020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噪声分类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0672" y="2880360"/>
            <a:ext cx="1600200" cy="11430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固定电阻 / 空载 / 多次上电 / 不同采样率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73752" y="3090672"/>
            <a:ext cx="292608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93792" y="1572768"/>
            <a:ext cx="194767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3" y="1810512"/>
            <a:ext cx="502920" cy="34747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1">
                <a:solidFill>
                  <a:srgbClr val="D4872C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3" y="2313432"/>
            <a:ext cx="160020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动态辨识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3" y="2880360"/>
            <a:ext cx="1600200" cy="11430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升降载、长保持、释放恢复、温度同步记录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41464" y="3090672"/>
            <a:ext cx="292607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61504" y="1572768"/>
            <a:ext cx="194767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26096" y="1810512"/>
            <a:ext cx="502920" cy="34747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1">
                <a:solidFill>
                  <a:srgbClr val="795BA8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2313432"/>
            <a:ext cx="160020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空间辨识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2880360"/>
            <a:ext cx="1600200" cy="11430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中心边角、不同压头、单点扫描、双点叠加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09176" y="3090672"/>
            <a:ext cx="292608" cy="0"/>
          </a:xfrm>
          <a:prstGeom prst="line">
            <a:avLst/>
          </a:prstGeom>
          <a:ln w="1905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29216" y="1572768"/>
            <a:ext cx="1947672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93808" y="1810512"/>
            <a:ext cx="502920" cy="34747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400" b="1">
                <a:solidFill>
                  <a:srgbClr val="2C8C68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3808" y="2313432"/>
            <a:ext cx="1600200" cy="43891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留出验收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2880360"/>
            <a:ext cx="1600200" cy="11430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完整录制、位置、日期、设备独立测试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138928"/>
            <a:ext cx="1042416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6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输出：基线、增益、非线性、迟滞、快慢时间常数、温漂、空间响应、坏点与不确定度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A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8288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0" y="246888"/>
            <a:ext cx="1691640" cy="2560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000" b="1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模量科技 ModuTech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0991088" cy="10972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75488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柔性压感传感器软件建模工作目标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软件分工：嵌入式保底，上位机建模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10515600" cy="32918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低延迟确定性工作下沉；复杂、可配置、可回放模型留在上位机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481328"/>
            <a:ext cx="5166360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91072" y="1481328"/>
            <a:ext cx="5166360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93392" y="1755648"/>
            <a:ext cx="2560320" cy="347472"/>
          </a:xfrm>
          <a:prstGeom prst="roundRect">
            <a:avLst/>
          </a:prstGeom>
          <a:solidFill>
            <a:srgbClr val="24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嵌入式软件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71231" y="1755648"/>
            <a:ext cx="2560320" cy="347472"/>
          </a:xfrm>
          <a:prstGeom prst="roundRect">
            <a:avLst/>
          </a:prstGeom>
          <a:solidFill>
            <a:srgbClr val="2C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上位机软件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395728"/>
            <a:ext cx="4434840" cy="2651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02A38"/>
                </a:solidFill>
                <a:latin typeface="微软雅黑" panose="020B0503020204020204" charset="-122"/>
              </a:defRPr>
            </a:pPr>
            <a:r>
              <a:t>• 时间戳、帧序号、丢帧与采样率</a:t>
            </a:r>
          </a:p>
          <a:p>
            <a:pPr>
              <a:spcAft>
                <a:spcPts val="900"/>
              </a:spcAft>
              <a:defRPr sz="1400">
                <a:solidFill>
                  <a:srgbClr val="202A38"/>
                </a:solidFill>
                <a:latin typeface="微软雅黑" panose="020B0503020204020204" charset="-122"/>
              </a:defRPr>
            </a:pPr>
            <a:r>
              <a:t>• ADC offset/gain、通道映射、坏点表</a:t>
            </a:r>
          </a:p>
          <a:p>
            <a:pPr>
              <a:spcAft>
                <a:spcPts val="900"/>
              </a:spcAft>
              <a:defRPr sz="1400">
                <a:solidFill>
                  <a:srgbClr val="202A38"/>
                </a:solidFill>
                <a:latin typeface="微软雅黑" panose="020B0503020204020204" charset="-122"/>
              </a:defRPr>
            </a:pPr>
            <a:r>
              <a:t>• 饱和、断路、短路、卡死与参考监测</a:t>
            </a:r>
          </a:p>
          <a:p>
            <a:pPr>
              <a:spcAft>
                <a:spcPts val="900"/>
              </a:spcAft>
              <a:defRPr sz="1400">
                <a:solidFill>
                  <a:srgbClr val="202A38"/>
                </a:solidFill>
                <a:latin typeface="微软雅黑" panose="020B0503020204020204" charset="-122"/>
              </a:defRPr>
            </a:pPr>
            <a:r>
              <a:t>• 可关闭的轻量去毛刺、陷波和 EMA</a:t>
            </a:r>
          </a:p>
          <a:p>
            <a:pPr>
              <a:spcAft>
                <a:spcPts val="900"/>
              </a:spcAft>
              <a:defRPr sz="1400">
                <a:solidFill>
                  <a:srgbClr val="202A38"/>
                </a:solidFill>
                <a:latin typeface="微软雅黑" panose="020B0503020204020204" charset="-122"/>
              </a:defRPr>
            </a:pPr>
            <a:r>
              <a:t>• 原始有符号数据与质量标志持续上报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395728"/>
            <a:ext cx="4434840" cy="2651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02A38"/>
                </a:solidFill>
                <a:latin typeface="微软雅黑" panose="020B0503020204020204" charset="-122"/>
              </a:defRPr>
            </a:pPr>
            <a:r>
              <a:t>• 设备 / 采集模式识别与参数版本管理</a:t>
            </a:r>
          </a:p>
          <a:p>
            <a:pPr>
              <a:spcAft>
                <a:spcPts val="900"/>
              </a:spcAft>
              <a:defRPr sz="1400">
                <a:solidFill>
                  <a:srgbClr val="202A38"/>
                </a:solidFill>
                <a:latin typeface="微软雅黑" panose="020B0503020204020204" charset="-122"/>
              </a:defRPr>
            </a:pPr>
            <a:r>
              <a:t>• 基线、共模、坏点和静态非线性标定</a:t>
            </a:r>
          </a:p>
          <a:p>
            <a:pPr>
              <a:spcAft>
                <a:spcPts val="900"/>
              </a:spcAft>
              <a:defRPr sz="1400">
                <a:solidFill>
                  <a:srgbClr val="202A38"/>
                </a:solidFill>
                <a:latin typeface="微软雅黑" panose="020B0503020204020204" charset="-122"/>
              </a:defRPr>
            </a:pPr>
            <a:r>
              <a:t>• 快慢状态、迟滞、温漂与总力估计</a:t>
            </a:r>
          </a:p>
          <a:p>
            <a:pPr>
              <a:spcAft>
                <a:spcPts val="900"/>
              </a:spcAft>
              <a:defRPr sz="1400">
                <a:solidFill>
                  <a:srgbClr val="202A38"/>
                </a:solidFill>
                <a:latin typeface="微软雅黑" panose="020B0503020204020204" charset="-122"/>
              </a:defRPr>
            </a:pPr>
            <a:r>
              <a:t>• 有证据时执行空间响应校正</a:t>
            </a:r>
          </a:p>
          <a:p>
            <a:pPr>
              <a:spcAft>
                <a:spcPts val="900"/>
              </a:spcAft>
              <a:defRPr sz="1400">
                <a:solidFill>
                  <a:srgbClr val="202A38"/>
                </a:solidFill>
                <a:latin typeface="微软雅黑" panose="020B0503020204020204" charset="-122"/>
              </a:defRPr>
            </a:pPr>
            <a:r>
              <a:t>• 测量流、记录流和显示流彻底分离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30368"/>
            <a:ext cx="10012680" cy="3657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5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共同原则：原始数据可获取 · 参数可追溯 · 算法可回放 · 处理可绕过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A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8288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0" y="246888"/>
            <a:ext cx="1691640" cy="2560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000" b="1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模量科技 ModuTech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0991088" cy="10972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75488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柔性压感传感器软件建模工作目标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目标软件管线：从原始帧到可解释产品输出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10515600" cy="32918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每一步都有输入、参数、质量标志和可独立验收的指标</a:t>
            </a:r>
          </a:p>
        </p:txBody>
      </p:sp>
      <p:pic>
        <p:nvPicPr>
          <p:cNvPr id="10" name="Picture 9" descr="上位机核心算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069" y="1261872"/>
            <a:ext cx="73348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A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8288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0" y="246888"/>
            <a:ext cx="1691640" cy="2560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000" b="1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模量科技 ModuTech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0991088" cy="10972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75488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柔性压感传感器软件建模工作目标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下一步工作计划：三阶段、三个阶段门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10515600" cy="32918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以证据推进，而不是以算法复杂度推进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572768"/>
            <a:ext cx="3401568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0976" y="1810512"/>
            <a:ext cx="749808" cy="347472"/>
          </a:xfrm>
          <a:prstGeom prst="roundRect">
            <a:avLst/>
          </a:prstGeom>
          <a:solidFill>
            <a:srgbClr val="24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1847088"/>
            <a:ext cx="1234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200" b="1">
                <a:solidFill>
                  <a:srgbClr val="2467B2"/>
                </a:solidFill>
                <a:latin typeface="微软雅黑" panose="020B0503020204020204" charset="-122"/>
              </a:defRPr>
            </a:pPr>
            <a:r>
              <a:t>2–3 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395728"/>
            <a:ext cx="2834640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2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链路透明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072384"/>
            <a:ext cx="2834640" cy="10515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5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观测链路表</a:t>
            </a:r>
            <a:br/>
            <a:r>
              <a:t>原始数据规范</a:t>
            </a:r>
            <a:br/>
            <a:r>
              <a:t>统一回放基线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51376" y="3273552"/>
            <a:ext cx="329184" cy="0"/>
          </a:xfrm>
          <a:prstGeom prst="line">
            <a:avLst/>
          </a:prstGeom>
          <a:ln w="2540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72000" y="1572768"/>
            <a:ext cx="3401568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73168" y="1810512"/>
            <a:ext cx="749808" cy="347472"/>
          </a:xfrm>
          <a:prstGeom prst="roundRect">
            <a:avLst/>
          </a:prstGeom>
          <a:solidFill>
            <a:srgbClr val="D48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47088"/>
            <a:ext cx="1234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200" b="1">
                <a:solidFill>
                  <a:srgbClr val="D4872C"/>
                </a:solidFill>
                <a:latin typeface="微软雅黑" panose="020B0503020204020204" charset="-122"/>
              </a:defRPr>
            </a:pPr>
            <a:r>
              <a:t>4–6 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91456" y="2395728"/>
            <a:ext cx="2834640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2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模型辨识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456" y="3072384"/>
            <a:ext cx="2834640" cy="10515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5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方差分解</a:t>
            </a:r>
            <a:br/>
            <a:r>
              <a:t>逐 Cell 标定</a:t>
            </a:r>
            <a:br/>
            <a:r>
              <a:t>动态 / 空间模型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73568" y="3273552"/>
            <a:ext cx="329184" cy="0"/>
          </a:xfrm>
          <a:prstGeom prst="line">
            <a:avLst/>
          </a:prstGeom>
          <a:ln w="25400">
            <a:solidFill>
              <a:srgbClr val="657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394192" y="1572768"/>
            <a:ext cx="3401568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95360" y="1810512"/>
            <a:ext cx="749808" cy="347472"/>
          </a:xfrm>
          <a:prstGeom prst="roundRect">
            <a:avLst/>
          </a:prstGeom>
          <a:solidFill>
            <a:srgbClr val="2C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2992" y="1847088"/>
            <a:ext cx="123444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200" b="1">
                <a:solidFill>
                  <a:srgbClr val="2C8C68"/>
                </a:solidFill>
                <a:latin typeface="微软雅黑" panose="020B0503020204020204" charset="-122"/>
              </a:defRPr>
            </a:pPr>
            <a:r>
              <a:t>证据门后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2395728"/>
            <a:ext cx="2834640" cy="45720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2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产品化补偿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3072384"/>
            <a:ext cx="2834640" cy="105156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5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设备分流配置</a:t>
            </a:r>
            <a:br/>
            <a:r>
              <a:t>在线状态模型</a:t>
            </a:r>
            <a:br/>
            <a:r>
              <a:t>跨设备验证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358384"/>
            <a:ext cx="10332720" cy="658368"/>
          </a:xfrm>
          <a:prstGeom prst="roundRect">
            <a:avLst/>
          </a:prstGeom>
          <a:solidFill>
            <a:srgbClr val="E8F1FA"/>
          </a:solidFill>
          <a:ln w="12700">
            <a:solidFill>
              <a:srgbClr val="C3D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541264"/>
            <a:ext cx="9784080" cy="310896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ctr">
              <a:defRPr sz="16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阶段门：参数可重复、留出集有效、跨设备收益稳定，才进入下一阶段。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A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182880"/>
            <a:ext cx="43891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0" y="246888"/>
            <a:ext cx="1691640" cy="25603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1000" b="1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模量科技 ModuTech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37376"/>
            <a:ext cx="10991088" cy="10972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473952"/>
            <a:ext cx="475488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柔性压感传感器软件建模工作目标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502920" cy="2011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r">
              <a:defRPr sz="9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84048"/>
            <a:ext cx="9875520" cy="5029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27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最终效果与本次决策请求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932688"/>
            <a:ext cx="10515600" cy="32918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目标不是承诺“消灭材料差异”，而是把系统从不可解释推进到可测量、可诊断、可迭代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481328"/>
            <a:ext cx="513892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481328"/>
            <a:ext cx="73152" cy="1170432"/>
          </a:xfrm>
          <a:prstGeom prst="rect">
            <a:avLst/>
          </a:prstGeom>
          <a:solidFill>
            <a:srgbClr val="2467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00200"/>
            <a:ext cx="4773168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数据可信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39112"/>
            <a:ext cx="4773168" cy="51206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原始、校正、力值和质量状态可追溯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481328"/>
            <a:ext cx="513892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481328"/>
            <a:ext cx="73152" cy="1170432"/>
          </a:xfrm>
          <a:prstGeom prst="rect">
            <a:avLst/>
          </a:prstGeom>
          <a:solidFill>
            <a:srgbClr val="D48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00200"/>
            <a:ext cx="4773168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模型可解释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39112"/>
            <a:ext cx="4773168" cy="51206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能区分噪声、漂移、迟滞、位置和设备差异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2926080"/>
            <a:ext cx="513892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2926080"/>
            <a:ext cx="73152" cy="1170432"/>
          </a:xfrm>
          <a:prstGeom prst="rect">
            <a:avLst/>
          </a:prstGeom>
          <a:solidFill>
            <a:srgbClr val="2C8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44952"/>
            <a:ext cx="4773168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产品可配置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483864"/>
            <a:ext cx="4773168" cy="51206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碳膜、织物、手套按设备和模式分流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2926080"/>
            <a:ext cx="513892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5352" y="2926080"/>
            <a:ext cx="73152" cy="1170432"/>
          </a:xfrm>
          <a:prstGeom prst="rect">
            <a:avLst/>
          </a:prstGeom>
          <a:solidFill>
            <a:srgbClr val="79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044952"/>
            <a:ext cx="4773168" cy="42062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800" b="1">
                <a:solidFill>
                  <a:srgbClr val="13253D"/>
                </a:solidFill>
                <a:latin typeface="微软雅黑" panose="020B0503020204020204" charset="-122"/>
              </a:defRPr>
            </a:pPr>
            <a:r>
              <a:t>效果可验收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483864"/>
            <a:ext cx="4773168" cy="512064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300" b="0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准确度、稳定性、延迟和空间指标同时报告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498848"/>
            <a:ext cx="10561320" cy="1115568"/>
          </a:xfrm>
          <a:prstGeom prst="roundRect">
            <a:avLst/>
          </a:prstGeom>
          <a:solidFill>
            <a:srgbClr val="13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727448"/>
            <a:ext cx="1143000" cy="347472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500" b="1">
                <a:solidFill>
                  <a:srgbClr val="20A7B5"/>
                </a:solidFill>
                <a:latin typeface="微软雅黑" panose="020B0503020204020204" charset="-122"/>
              </a:defRPr>
            </a:pPr>
            <a:r>
              <a:t>需要确认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617720"/>
            <a:ext cx="8641080" cy="658368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① 产品目标与验收指标   ② 原始数据链路支持   ③ 受控实验与跨设备样本   ④ P0 / P1 工作优先级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25312"/>
            <a:ext cx="3657600" cy="274320"/>
          </a:xfrm>
          <a:prstGeom prst="rect">
            <a:avLst/>
          </a:prstGeom>
          <a:noFill/>
        </p:spPr>
        <p:txBody>
          <a:bodyPr wrap="square" lIns="38100" tIns="25400" rIns="38100" bIns="25400">
            <a:spAutoFit/>
          </a:bodyPr>
          <a:lstStyle/>
          <a:p>
            <a:pPr algn="l">
              <a:defRPr sz="1100" b="1">
                <a:solidFill>
                  <a:srgbClr val="657284"/>
                </a:solidFill>
                <a:latin typeface="微软雅黑" panose="020B0503020204020204" charset="-122"/>
              </a:defRPr>
            </a:pPr>
            <a:r>
              <a:t>李文轩｜模量科技 ModuTech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2243</Words>
  <Application>WPS Presentation</Application>
  <PresentationFormat>On-screen Show (4:3)</PresentationFormat>
  <Paragraphs>314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lenovo</cp:lastModifiedBy>
  <cp:revision>3</cp:revision>
  <dcterms:created xsi:type="dcterms:W3CDTF">2013-01-27T09:14:00Z</dcterms:created>
  <dcterms:modified xsi:type="dcterms:W3CDTF">2026-07-16T07:42:28Z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E55D91EDAD5C4AC192F4002D5D7D9AF2_12</vt:lpwstr>
  </property>
  <property fmtid="{D5CDD505-2E9C-101B-9397-08002B2CF9AE}" pid="3" name="KSOProductBuildVer">
    <vt:lpwstr>1033-12.1.0.26880</vt:lpwstr>
  </property>
</Properties>
</file>